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360000">
            <a:off x="548640" y="50292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FFD23F"/>
          </a:solidFill>
          <a:ln w="38100">
            <a:solidFill>
              <a:srgbClr val="17130D"/>
            </a:solidFill>
          </a:ln>
          <a:effectLst>
            <a:outerShdw sx="100000" sy="100000" kx="0" ky="0" algn="bl" rotWithShape="0" blurRad="101600" dist="63500" dir="2700000">
              <a:srgbClr val="17130D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600200" y="658368"/>
            <a:ext cx="384048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540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ET-617 · ASSIGNMENT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0" b="1" spc="-200" kern="0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LEARNFLOW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learning platform that turns every learner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into 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clickstream data</a:t>
            </a:r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669341" cy="402336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 w="2540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82573" y="4160520"/>
            <a:ext cx="768096" cy="402336"/>
          </a:xfrm>
          <a:prstGeom prst="roundRect">
            <a:avLst>
              <a:gd name="adj" fmla="val 50000"/>
            </a:avLst>
          </a:prstGeom>
          <a:solidFill>
            <a:srgbClr val="FF5D8F"/>
          </a:solidFill>
          <a:ln w="2540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15261" y="4160520"/>
            <a:ext cx="965606" cy="402336"/>
          </a:xfrm>
          <a:prstGeom prst="roundRect">
            <a:avLst>
              <a:gd name="adj" fmla="val 50000"/>
            </a:avLst>
          </a:prstGeom>
          <a:solidFill>
            <a:srgbClr val="23C552"/>
          </a:solidFill>
          <a:ln w="2540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Quizzes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45459" y="4160520"/>
            <a:ext cx="1360627" cy="40233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2540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Clickstream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0678" y="4160520"/>
            <a:ext cx="1163117" cy="402336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 w="2540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98387" y="416052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23C552"/>
          </a:solidFill>
          <a:ln w="2540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CSV/XLSX/JSON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25400">
            <a:solidFill>
              <a:srgbClr val="17130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455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C5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LEARNFLOW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53912" y="6455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5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 · Express · SQLite · Vanilla JS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120000">
            <a:off x="548640" y="457200"/>
            <a:ext cx="1028700" cy="384048"/>
          </a:xfrm>
          <a:prstGeom prst="roundRect">
            <a:avLst>
              <a:gd name="adj" fmla="val 47619"/>
            </a:avLst>
          </a:prstGeom>
          <a:solidFill>
            <a:srgbClr val="FFD23F"/>
          </a:solidFill>
          <a:ln w="2540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-100" kern="0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assignment asked for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66928" y="19933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D23F"/>
          </a:solidFill>
          <a:ln w="25400">
            <a:solidFill>
              <a:srgbClr val="17130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9659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login  </a:t>
            </a:r>
            <a:pPr indent="0" marL="0">
              <a:buNone/>
            </a:pPr>
            <a:r>
              <a:rPr lang="en-US" sz="165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Users sign in as learners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66928" y="25603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F5D8F"/>
          </a:solidFill>
          <a:ln w="25400">
            <a:solidFill>
              <a:srgbClr val="17130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53288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content  </a:t>
            </a:r>
            <a:pPr indent="0" marL="0">
              <a:buNone/>
            </a:pPr>
            <a:r>
              <a:rPr lang="en-US" sz="165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Text, video, quizzes — or a combination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66928" y="31272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3C552"/>
          </a:solidFill>
          <a:ln w="25400">
            <a:solidFill>
              <a:srgbClr val="17130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309981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all activity  </a:t>
            </a:r>
            <a:pPr indent="0" marL="0">
              <a:buNone/>
            </a:pPr>
            <a:r>
              <a:rPr lang="en-US" sz="165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Clicks, page views, video actions, quiz attempts…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66928" y="36941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8BDF8"/>
          </a:solidFill>
          <a:ln w="25400">
            <a:solidFill>
              <a:srgbClr val="17130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66674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clickstream  </a:t>
            </a:r>
            <a:pPr indent="0" marL="0">
              <a:buNone/>
            </a:pPr>
            <a:r>
              <a:rPr lang="en-US" sz="165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Persist every interaction in a database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66928" y="426110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4F46E5"/>
          </a:solidFill>
          <a:ln w="25400">
            <a:solidFill>
              <a:srgbClr val="17130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42336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app + Git  </a:t>
            </a:r>
            <a:pPr indent="0" marL="0">
              <a:buNone/>
            </a:pPr>
            <a:r>
              <a:rPr lang="en-US" sz="165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Any tech stack, under version control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23C552"/>
          </a:solidFill>
          <a:ln w="31750">
            <a:solidFill>
              <a:srgbClr val="17130D"/>
            </a:solidFill>
            <a:prstDash val="solid"/>
          </a:ln>
          <a:effectLst>
            <a:outerShdw sx="100000" sy="100000" kx="0" ky="0" algn="bl" rotWithShape="0" blurRad="101600" dist="63500" dir="2700000">
              <a:srgbClr val="17130D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21214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FORMAT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24871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Moodle logstore export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12480" y="30632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· Event context · Component · Event name · Description · Origin · IP address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25400">
            <a:solidFill>
              <a:srgbClr val="17130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455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C5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BRIEF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53912" y="6455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5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120000">
            <a:off x="548640" y="457200"/>
            <a:ext cx="1316736" cy="384048"/>
          </a:xfrm>
          <a:prstGeom prst="roundRect">
            <a:avLst>
              <a:gd name="adj" fmla="val 47619"/>
            </a:avLst>
          </a:prstGeom>
          <a:solidFill>
            <a:srgbClr val="FFD23F"/>
          </a:solidFill>
          <a:ln w="2540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-100" kern="0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LearnFlow at a glance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FF5DF"/>
          </a:solidFill>
          <a:ln w="31750">
            <a:solidFill>
              <a:srgbClr val="17130D"/>
            </a:solidFill>
            <a:prstDash val="solid"/>
          </a:ln>
          <a:effectLst>
            <a:outerShdw sx="100000" sy="100000" kx="0" ky="0" algn="bl" rotWithShape="0" blurRad="101600" dist="63500" dir="2700000">
              <a:srgbClr val="17130D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4F46E5"/>
          </a:solidFill>
          <a:ln w="25400">
            <a:solidFill>
              <a:srgbClr val="1713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5296" y="218541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Learners &amp; admins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71576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password auth (bcrypt, token sessions). Learners see their own data; admins see everyone’s.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FF5DF"/>
          </a:solidFill>
          <a:ln w="31750">
            <a:solidFill>
              <a:srgbClr val="17130D"/>
            </a:solidFill>
            <a:prstDash val="solid"/>
          </a:ln>
          <a:effectLst>
            <a:outerShdw sx="100000" sy="100000" kx="0" ky="0" algn="bl" rotWithShape="0" blurRad="101600" dist="63500" dir="2700000">
              <a:srgbClr val="17130D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19672" y="22402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5D8F"/>
          </a:solidFill>
          <a:ln w="25400">
            <a:solidFill>
              <a:srgbClr val="17130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22008" y="218541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content types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2715768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reading, HTML5 video with live event capture, and server-graded multiple-choice quizzes.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4224528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FF5DF"/>
          </a:solidFill>
          <a:ln w="31750">
            <a:solidFill>
              <a:srgbClr val="17130D"/>
            </a:solidFill>
            <a:prstDash val="solid"/>
          </a:ln>
          <a:effectLst>
            <a:outerShdw sx="100000" sy="100000" kx="0" ky="0" algn="bl" rotWithShape="0" blurRad="101600" dist="63500" dir="2700000">
              <a:srgbClr val="17130D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49884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3C552"/>
          </a:solidFill>
          <a:ln w="25400">
            <a:solidFill>
              <a:srgbClr val="17130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444398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clickstream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" y="4974336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Clicks, scroll depth, time-on-page, video play/pause/seek/progress, quiz start/answer/submit, auth.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4224528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FF5DF"/>
          </a:solidFill>
          <a:ln w="31750">
            <a:solidFill>
              <a:srgbClr val="17130D"/>
            </a:solidFill>
            <a:prstDash val="solid"/>
          </a:ln>
          <a:effectLst>
            <a:outerShdw sx="100000" sy="100000" kx="0" ky="0" algn="bl" rotWithShape="0" blurRad="101600" dist="63500" dir="2700000">
              <a:srgbClr val="17130D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9672" y="449884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8BDF8"/>
          </a:solidFill>
          <a:ln w="25400">
            <a:solidFill>
              <a:srgbClr val="17130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2008" y="444398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 + export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37960" y="4974336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dashboard with charts and a raw log, plus one-click export as CSV, Excel or JSON.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25400">
            <a:solidFill>
              <a:srgbClr val="17130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55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C5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53912" y="6455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5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120000">
            <a:off x="548640" y="457200"/>
            <a:ext cx="1316736" cy="384048"/>
          </a:xfrm>
          <a:prstGeom prst="roundRect">
            <a:avLst>
              <a:gd name="adj" fmla="val 47619"/>
            </a:avLst>
          </a:prstGeom>
          <a:solidFill>
            <a:srgbClr val="FFD23F"/>
          </a:solidFill>
          <a:ln w="2540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-100" kern="0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process, no build step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FFD23F"/>
          </a:solidFill>
          <a:ln w="31750">
            <a:solidFill>
              <a:srgbClr val="17130D"/>
            </a:solidFill>
            <a:prstDash val="solid"/>
          </a:ln>
          <a:effectLst>
            <a:outerShdw sx="100000" sy="100000" kx="0" ky="0" algn="bl" rotWithShape="0" blurRad="101600" dist="63500" dir="2700000">
              <a:srgbClr val="17130D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2128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Vanilla-JS SPA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6700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browser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08376" y="2011680"/>
            <a:ext cx="365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374136" y="201168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FF5D8F"/>
          </a:solidFill>
          <a:ln w="31750">
            <a:solidFill>
              <a:srgbClr val="17130D"/>
            </a:solidFill>
            <a:prstDash val="solid"/>
          </a:ln>
          <a:effectLst>
            <a:outerShdw sx="100000" sy="100000" kx="0" ky="0" algn="bl" rotWithShape="0" blurRad="101600" dist="63500" dir="2700000">
              <a:srgbClr val="17130D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74136" y="22128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tracker.js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74136" y="26700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+ sendBeacon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15584" y="2011680"/>
            <a:ext cx="365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181344" y="201168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38BDF8"/>
          </a:solidFill>
          <a:ln w="31750">
            <a:solidFill>
              <a:srgbClr val="17130D"/>
            </a:solidFill>
            <a:prstDash val="solid"/>
          </a:ln>
          <a:effectLst>
            <a:outerShdw sx="100000" sy="100000" kx="0" ky="0" algn="bl" rotWithShape="0" blurRad="101600" dist="63500" dir="2700000">
              <a:srgbClr val="17130D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81344" y="22128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Express API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81344" y="26700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/api/ingest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22792" y="2011680"/>
            <a:ext cx="365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988552" y="201168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23C552"/>
          </a:solidFill>
          <a:ln w="31750">
            <a:solidFill>
              <a:srgbClr val="17130D"/>
            </a:solidFill>
            <a:prstDash val="solid"/>
          </a:ln>
          <a:effectLst>
            <a:outerShdw sx="100000" sy="100000" kx="0" ky="0" algn="bl" rotWithShape="0" blurRad="101600" dist="63500" dir="2700000">
              <a:srgbClr val="17130D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88552" y="22128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SQLite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88552" y="26700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 table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" y="383133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4F46E5"/>
          </a:solidFill>
          <a:ln w="25400">
            <a:solidFill>
              <a:srgbClr val="17130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794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loads plain .js / .css — runs with a single "npm start".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03504" y="4434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4F46E5"/>
          </a:solidFill>
          <a:ln w="25400">
            <a:solidFill>
              <a:srgbClr val="17130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39826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better-sqlite3 — a real, indexed relational store with zero setup.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03504" y="503834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4F46E5"/>
          </a:solidFill>
          <a:ln w="25400">
            <a:solidFill>
              <a:srgbClr val="17130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001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&amp; quiz-submit are logged server-side too, so the timeline can’t be spoofed.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25400">
            <a:solidFill>
              <a:srgbClr val="17130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55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C5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53912" y="6455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5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120000">
            <a:off x="548640" y="457200"/>
            <a:ext cx="932688" cy="384048"/>
          </a:xfrm>
          <a:prstGeom prst="roundRect">
            <a:avLst>
              <a:gd name="adj" fmla="val 47619"/>
            </a:avLst>
          </a:prstGeom>
          <a:solidFill>
            <a:srgbClr val="FFD23F"/>
          </a:solidFill>
          <a:ln w="2540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-100" kern="0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clickstream flows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F46E5"/>
          </a:solidFill>
          <a:ln w="3175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1901952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 </a:t>
            </a:r>
            <a:pPr indent="0" marL="0">
              <a:buNone/>
            </a:pPr>
            <a:r>
              <a:rPr lang="en-US" sz="160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tracker.js auto-records clicks, scroll &amp; time-on-page; Tracker.log() for semantic events.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70662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F46E5"/>
          </a:solidFill>
          <a:ln w="3175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2688336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 </a:t>
            </a:r>
            <a:pPr indent="0" marL="0">
              <a:buNone/>
            </a:pPr>
            <a:r>
              <a:rPr lang="en-US" sz="160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Events queue and flush every few seconds, or via sendBeacon on tab-hide — no lost tail events.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349300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F46E5"/>
          </a:solidFill>
          <a:ln w="3175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347472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  </a:t>
            </a:r>
            <a:pPr indent="0" marL="0">
              <a:buNone/>
            </a:pPr>
            <a:r>
              <a:rPr lang="en-US" sz="160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server stamps the real IP address and the authenticated user id.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42793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F46E5"/>
          </a:solidFill>
          <a:ln w="3175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4261104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 </a:t>
            </a:r>
            <a:pPr indent="0" marL="0">
              <a:buNone/>
            </a:pPr>
            <a:r>
              <a:rPr lang="en-US" sz="160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indexed row per interaction in the events table.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506577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4F46E5"/>
          </a:solidFill>
          <a:ln w="3175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5047488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back  </a:t>
            </a:r>
            <a:pPr indent="0" marL="0">
              <a:buNone/>
            </a:pPr>
            <a:r>
              <a:rPr lang="en-US" sz="160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Aggregates, raw log, and CSV / Excel / JSON export — scoped per role.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25400">
            <a:solidFill>
              <a:srgbClr val="17130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55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C5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CLICKSTREAM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53912" y="6455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5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120000">
            <a:off x="548640" y="457200"/>
            <a:ext cx="932688" cy="384048"/>
          </a:xfrm>
          <a:prstGeom prst="roundRect">
            <a:avLst>
              <a:gd name="adj" fmla="val 47619"/>
            </a:avLst>
          </a:prstGeom>
          <a:solidFill>
            <a:srgbClr val="FFD23F"/>
          </a:solidFill>
          <a:ln w="2540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-100" kern="0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gets tracked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Example events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13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13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· logged in · logged out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13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13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 / Course / Analytics viewed · exported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D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13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Lesson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13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Lesson viewed · marked complete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13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Video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13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played · paused · seeked · progress 25/50/75% · completed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D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13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Quiz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13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started · answer selected · attempt submitted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13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Interface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713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 clicked · scroll depth · time on page · theme changed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D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25400">
            <a:solidFill>
              <a:srgbClr val="17130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455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C5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CATALOGUE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153912" y="6455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5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120000">
            <a:off x="548640" y="457200"/>
            <a:ext cx="548640" cy="384048"/>
          </a:xfrm>
          <a:prstGeom prst="roundRect">
            <a:avLst>
              <a:gd name="adj" fmla="val 47619"/>
            </a:avLst>
          </a:prstGeom>
          <a:solidFill>
            <a:srgbClr val="FFD23F"/>
          </a:solidFill>
          <a:ln w="2540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-100" kern="0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events table = the clickstream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FD23F"/>
          </a:solidFill>
          <a:ln w="31750">
            <a:solidFill>
              <a:srgbClr val="17130D"/>
            </a:solidFill>
            <a:prstDash val="solid"/>
          </a:ln>
          <a:effectLst>
            <a:outerShdw sx="100000" sy="100000" kx="0" ky="0" algn="bl" rotWithShape="0" blurRad="101600" dist="63500" dir="2700000">
              <a:srgbClr val="17130D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MOODLE COLUMNS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5420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· Event context · Component · Event name · Description · Origin · IP address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38BDF8"/>
          </a:solidFill>
          <a:ln w="31750">
            <a:solidFill>
              <a:srgbClr val="17130D"/>
            </a:solidFill>
            <a:prstDash val="solid"/>
          </a:ln>
          <a:effectLst>
            <a:outerShdw sx="100000" sy="100000" kx="0" ky="0" algn="bl" rotWithShape="0" blurRad="101600" dist="63500" dir="2700000">
              <a:srgbClr val="17130D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73952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 COLUMNS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73952" y="25420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· session_id · event_type · target_type · target_id · url · payload (JSON)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4160520"/>
            <a:ext cx="11064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31750">
            <a:solidFill>
              <a:srgbClr val="17130D"/>
            </a:solidFill>
            <a:prstDash val="solid"/>
          </a:ln>
          <a:effectLst>
            <a:outerShdw sx="100000" sy="100000" kx="0" ky="0" algn="bl" rotWithShape="0" blurRad="101600" dist="63500" dir="2700000">
              <a:srgbClr val="17130D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tables: </a:t>
            </a:r>
            <a:pPr indent="0" marL="0">
              <a:buNone/>
            </a:pPr>
            <a:r>
              <a:rPr lang="en-US" sz="155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· sessions · courses · lessons · quiz_attempts.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answer keys are stripped before a lesson reaches the browser — grading happens server-side. Exports (CSV / Excel / JSON) emit the exact Moodle column order; the .xlsx writer has zero external dependencies.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25400">
            <a:solidFill>
              <a:srgbClr val="17130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55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C5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MODEL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53912" y="6455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5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120000">
            <a:off x="548640" y="457200"/>
            <a:ext cx="1028700" cy="384048"/>
          </a:xfrm>
          <a:prstGeom prst="roundRect">
            <a:avLst>
              <a:gd name="adj" fmla="val 47619"/>
            </a:avLst>
          </a:prstGeom>
          <a:solidFill>
            <a:srgbClr val="FFD23F"/>
          </a:solidFill>
          <a:ln w="2540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-100" kern="0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it in action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3504" y="199339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D23F"/>
          </a:solidFill>
          <a:ln w="25400">
            <a:solidFill>
              <a:srgbClr val="17130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1965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→ dashboard with a progress ring &amp; live study timer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03504" y="25603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5D8F"/>
          </a:solidFill>
          <a:ln w="25400">
            <a:solidFill>
              <a:srgbClr val="17130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53288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 text lesson (scroll depth tracked)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03504" y="312724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38BDF8"/>
          </a:solidFill>
          <a:ln w="25400">
            <a:solidFill>
              <a:srgbClr val="17130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309981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a video — play / pause / seek logged live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03504" y="369417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23C552"/>
          </a:solidFill>
          <a:ln w="25400">
            <a:solidFill>
              <a:srgbClr val="17130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36667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quiz — instant colour-coded grading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3504" y="42611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4F46E5"/>
          </a:solidFill>
          <a:ln w="25400">
            <a:solidFill>
              <a:srgbClr val="17130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423367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My Analytics → charts + raw log → Export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66928" y="5074920"/>
            <a:ext cx="11064240" cy="640080"/>
          </a:xfrm>
          <a:prstGeom prst="roundRect">
            <a:avLst>
              <a:gd name="adj" fmla="val 20000"/>
            </a:avLst>
          </a:prstGeom>
          <a:solidFill>
            <a:srgbClr val="17130D"/>
          </a:solidFill>
          <a:ln w="31750">
            <a:solidFill>
              <a:srgbClr val="17130D"/>
            </a:solidFill>
          </a:ln>
          <a:effectLst>
            <a:outerShdw sx="100000" sy="100000" kx="0" ky="0" algn="bl" rotWithShape="0" blurRad="101600" dist="50800" dir="2700000">
              <a:srgbClr val="17130D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 &amp;&amp;  npm run seed  &amp;&amp;  npm start      →      localhost:3000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25400">
            <a:solidFill>
              <a:srgbClr val="17130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55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C5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53912" y="6455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5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3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-120000">
            <a:off x="548640" y="457200"/>
            <a:ext cx="836676" cy="384048"/>
          </a:xfrm>
          <a:prstGeom prst="roundRect">
            <a:avLst>
              <a:gd name="adj" fmla="val 47619"/>
            </a:avLst>
          </a:prstGeom>
          <a:solidFill>
            <a:srgbClr val="FFD23F"/>
          </a:solidFill>
          <a:ln w="25400">
            <a:solidFill>
              <a:srgbClr val="17130D"/>
            </a:solidFill>
          </a:ln>
          <a:effectLst>
            <a:outerShdw sx="100000" sy="100000" kx="0" ky="0" algn="bl" rotWithShape="0" blurRad="101600" dist="38100" dir="2700000">
              <a:srgbClr val="17130D">
                <a:alpha val="100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spc="-100" kern="0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the brief asked — and then some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23C552"/>
          </a:solidFill>
          <a:ln w="31750">
            <a:solidFill>
              <a:srgbClr val="17130D"/>
            </a:solidFill>
            <a:prstDash val="solid"/>
          </a:ln>
          <a:effectLst>
            <a:outerShdw sx="100000" sy="100000" kx="0" ky="0" algn="bl" rotWithShape="0" blurRad="101600" dist="63500" dir="2700000">
              <a:srgbClr val="17130D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auth · text / video / quiz · full clickstream · storage · analytics · CSV/Excel/JSON · Git history · docs.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D23F"/>
          </a:solidFill>
          <a:ln w="31750">
            <a:solidFill>
              <a:srgbClr val="17130D"/>
            </a:solidFill>
            <a:prstDash val="solid"/>
          </a:ln>
          <a:effectLst>
            <a:outerShdw sx="100000" sy="100000" kx="0" ky="0" algn="bl" rotWithShape="0" blurRad="101600" dist="63500" dir="2700000">
              <a:srgbClr val="17130D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0528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3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 POLISH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10528" y="26060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713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analytics scope · neo-brutalist light/dark UI · offline demo videos · batched beacon tracking · Moodle-exact export.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4343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6C5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includes README, ARCHITECTURE.md, this deck, a demo video &amp; voice-over script.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30352" y="48920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spc="-100" kern="0" dirty="0">
                <a:solidFill>
                  <a:srgbClr val="1713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25400">
            <a:solidFill>
              <a:srgbClr val="17130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455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C5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LEARNFLOW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53912" y="645566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C5D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LearnFlow — ET-617</dc:title>
  <dc:subject>PptxGenJS Presentation</dc:subject>
  <dc:creator>LearnFlow</dc:creator>
  <cp:lastModifiedBy>LearnFlow</cp:lastModifiedBy>
  <cp:revision>1</cp:revision>
  <dcterms:created xsi:type="dcterms:W3CDTF">2026-08-05T12:35:09Z</dcterms:created>
  <dcterms:modified xsi:type="dcterms:W3CDTF">2026-08-05T12:35:09Z</dcterms:modified>
</cp:coreProperties>
</file>